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995" r:id="rId4"/>
  </p:sldMasterIdLst>
  <p:notesMasterIdLst>
    <p:notesMasterId r:id="rId11"/>
  </p:notesMasterIdLst>
  <p:handoutMasterIdLst>
    <p:handoutMasterId r:id="rId12"/>
  </p:handoutMasterIdLst>
  <p:sldIdLst>
    <p:sldId id="362" r:id="rId5"/>
    <p:sldId id="363" r:id="rId6"/>
    <p:sldId id="364" r:id="rId7"/>
    <p:sldId id="365" r:id="rId8"/>
    <p:sldId id="366" r:id="rId9"/>
    <p:sldId id="367" r:id="rId10"/>
  </p:sldIdLst>
  <p:sldSz cx="9144000" cy="6858000" type="screen4x3"/>
  <p:notesSz cx="9601200" cy="7315200"/>
  <p:embeddedFontLst>
    <p:embeddedFont>
      <p:font typeface="ＭＳ Ｐゴシック" panose="020B0600070205080204" pitchFamily="50" charset="-128"/>
      <p:regular r:id="rId13"/>
    </p:embeddedFont>
  </p:embeddedFontLst>
  <p:defaultTextStyle>
    <a:defPPr>
      <a:defRPr lang="ja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Courier New" panose="02070309020205020404" pitchFamily="49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3" userDrawn="1">
          <p15:clr>
            <a:srgbClr val="A4A3A4"/>
          </p15:clr>
        </p15:guide>
        <p15:guide id="2" pos="325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CCEE"/>
    <a:srgbClr val="CAEEFB"/>
    <a:srgbClr val="D1F0FB"/>
    <a:srgbClr val="007FC6"/>
    <a:srgbClr val="FFF7C7"/>
    <a:srgbClr val="D9F2D0"/>
    <a:srgbClr val="6DCBF4"/>
    <a:srgbClr val="D64045"/>
    <a:srgbClr val="E9ECF0"/>
    <a:srgbClr val="F27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4F648-4E81-4D92-859B-E820C661BC6E}" v="6" dt="2026-08-18T00:58:35.501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2" d="100"/>
          <a:sy n="152" d="100"/>
        </p:scale>
        <p:origin x="3052" y="96"/>
      </p:cViewPr>
      <p:guideLst>
        <p:guide orient="horz" pos="2233"/>
        <p:guide pos="32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 Nakano" userId="d848f02a-6a00-48c6-8c3c-f72f820ac604" providerId="ADAL" clId="{18AA4F4E-2A60-4F83-8194-11F33D21686D}"/>
    <pc:docChg chg="undo redo custSel addSld delSld modSld sldOrd modNotesMaster">
      <pc:chgData name="Hiro Nakano" userId="d848f02a-6a00-48c6-8c3c-f72f820ac604" providerId="ADAL" clId="{18AA4F4E-2A60-4F83-8194-11F33D21686D}" dt="2026-07-29T01:56:03.740" v="4298" actId="1036"/>
      <pc:docMkLst>
        <pc:docMk/>
      </pc:docMkLst>
    </pc:docChg>
  </pc:docChgLst>
  <pc:docChgLst>
    <pc:chgData name="Hiro Nakano" userId="d848f02a-6a00-48c6-8c3c-f72f820ac604" providerId="ADAL" clId="{AB56FD29-4311-4936-A80F-C735CD2E52A7}"/>
    <pc:docChg chg="undo redo custSel addSld delSld modSld modNotesMaster">
      <pc:chgData name="Hiro Nakano" userId="d848f02a-6a00-48c6-8c3c-f72f820ac604" providerId="ADAL" clId="{AB56FD29-4311-4936-A80F-C735CD2E52A7}" dt="2026-08-18T01:00:24.872" v="8784" actId="20577"/>
      <pc:docMkLst>
        <pc:docMk/>
      </pc:docMkLst>
      <pc:sldChg chg="modNotes">
        <pc:chgData name="Hiro Nakano" userId="d848f02a-6a00-48c6-8c3c-f72f820ac604" providerId="ADAL" clId="{AB56FD29-4311-4936-A80F-C735CD2E52A7}" dt="2026-08-18T00:57:00.265" v="8670" actId="20577"/>
        <pc:sldMkLst>
          <pc:docMk/>
          <pc:sldMk cId="741325618" sldId="362"/>
        </pc:sldMkLst>
      </pc:sldChg>
      <pc:sldChg chg="add modNotes">
        <pc:chgData name="Hiro Nakano" userId="d848f02a-6a00-48c6-8c3c-f72f820ac604" providerId="ADAL" clId="{AB56FD29-4311-4936-A80F-C735CD2E52A7}" dt="2026-08-18T00:59:32.242" v="8704" actId="1036"/>
        <pc:sldMkLst>
          <pc:docMk/>
          <pc:sldMk cId="2098910604" sldId="363"/>
        </pc:sldMkLst>
      </pc:sldChg>
      <pc:sldChg chg="add modNotes">
        <pc:chgData name="Hiro Nakano" userId="d848f02a-6a00-48c6-8c3c-f72f820ac604" providerId="ADAL" clId="{AB56FD29-4311-4936-A80F-C735CD2E52A7}" dt="2026-08-18T01:00:24.872" v="8784" actId="20577"/>
        <pc:sldMkLst>
          <pc:docMk/>
          <pc:sldMk cId="2137494026" sldId="364"/>
        </pc:sldMkLst>
      </pc:sldChg>
      <pc:sldChg chg="add modNotes">
        <pc:chgData name="Hiro Nakano" userId="d848f02a-6a00-48c6-8c3c-f72f820ac604" providerId="ADAL" clId="{AB56FD29-4311-4936-A80F-C735CD2E52A7}" dt="2026-08-18T00:56:42.814" v="8632" actId="20577"/>
        <pc:sldMkLst>
          <pc:docMk/>
          <pc:sldMk cId="236736690" sldId="365"/>
        </pc:sldMkLst>
      </pc:sldChg>
      <pc:sldChg chg="add modNotes">
        <pc:chgData name="Hiro Nakano" userId="d848f02a-6a00-48c6-8c3c-f72f820ac604" providerId="ADAL" clId="{AB56FD29-4311-4936-A80F-C735CD2E52A7}" dt="2026-08-18T01:00:00.437" v="8760" actId="6549"/>
        <pc:sldMkLst>
          <pc:docMk/>
          <pc:sldMk cId="2068696941" sldId="366"/>
        </pc:sldMkLst>
      </pc:sldChg>
      <pc:sldChg chg="add modNotes">
        <pc:chgData name="Hiro Nakano" userId="d848f02a-6a00-48c6-8c3c-f72f820ac604" providerId="ADAL" clId="{AB56FD29-4311-4936-A80F-C735CD2E52A7}" dt="2026-08-18T01:00:15.493" v="8781" actId="1036"/>
        <pc:sldMkLst>
          <pc:docMk/>
          <pc:sldMk cId="3337697165" sldId="3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9">
            <a:extLst>
              <a:ext uri="{FF2B5EF4-FFF2-40B4-BE49-F238E27FC236}">
                <a16:creationId xmlns:a16="http://schemas.microsoft.com/office/drawing/2014/main" id="{5A2DD3F6-ADB2-4EA8-B57D-C6EE59872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330397" cy="24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386" tIns="45873" rIns="93386" bIns="45873" anchor="ctr"/>
          <a:lstStyle>
            <a:lvl1pPr defTabSz="944563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742950" indent="-285750" defTabSz="944563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marL="1143000" indent="-228600" defTabSz="944563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marL="1600200" indent="-228600" defTabSz="944563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marL="2057400" indent="-228600" defTabSz="944563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25146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29718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34290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3886200" indent="-228600" defTabSz="94456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defTabSz="91440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None/>
            </a:pPr>
            <a:r>
              <a:rPr lang="en-US" sz="1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Appendix A: Exercises</a:t>
            </a:r>
            <a:endParaRPr lang="en-US" altLang="en-US" sz="1200" b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3075" name="Line 30">
            <a:extLst>
              <a:ext uri="{FF2B5EF4-FFF2-40B4-BE49-F238E27FC236}">
                <a16:creationId xmlns:a16="http://schemas.microsoft.com/office/drawing/2014/main" id="{B97F0165-670A-4024-8CE9-8C7D80F8D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227319"/>
            <a:ext cx="960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076" name="Object 35">
            <a:extLst>
              <a:ext uri="{FF2B5EF4-FFF2-40B4-BE49-F238E27FC236}">
                <a16:creationId xmlns:a16="http://schemas.microsoft.com/office/drawing/2014/main" id="{2638B95F-517A-4E3A-8344-0CA45DA3C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5253" y="3461049"/>
          <a:ext cx="169252" cy="16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51" imgH="215619" progId="Equation.3">
                  <p:embed/>
                </p:oleObj>
              </mc:Choice>
              <mc:Fallback>
                <p:oleObj name="Equation" r:id="rId2" imgW="114151" imgH="215619" progId="Equation.3">
                  <p:embed/>
                  <p:pic>
                    <p:nvPicPr>
                      <p:cNvPr id="3076" name="Object 35">
                        <a:extLst>
                          <a:ext uri="{FF2B5EF4-FFF2-40B4-BE49-F238E27FC236}">
                            <a16:creationId xmlns:a16="http://schemas.microsoft.com/office/drawing/2014/main" id="{2638B95F-517A-4E3A-8344-0CA45DA3C3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253" y="3461049"/>
                        <a:ext cx="169252" cy="16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Line 37">
            <a:extLst>
              <a:ext uri="{FF2B5EF4-FFF2-40B4-BE49-F238E27FC236}">
                <a16:creationId xmlns:a16="http://schemas.microsoft.com/office/drawing/2014/main" id="{3F4CACE2-CF3C-487F-B242-F2A5538B5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021225"/>
            <a:ext cx="960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318" name="Rectangle 40">
            <a:extLst>
              <a:ext uri="{FF2B5EF4-FFF2-40B4-BE49-F238E27FC236}">
                <a16:creationId xmlns:a16="http://schemas.microsoft.com/office/drawing/2014/main" id="{E03A51A2-081A-4CC2-AC1C-F483FD078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5248" y="7044862"/>
            <a:ext cx="581329" cy="24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012" tIns="47506" rIns="95012" bIns="47506" anchor="b">
            <a:spAutoFit/>
          </a:bodyPr>
          <a:lstStyle>
            <a:lvl1pPr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742950" indent="-28575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marL="11430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marL="16002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marL="20574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en-US" alt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Ex-</a:t>
            </a:r>
            <a:fld id="{CBB4743A-24AC-40AC-86CC-C6D91C7FDD70}" type="slidenum">
              <a:rPr lang="en-US" altLang="en-US" sz="1000" b="1" smtClean="0">
                <a:latin typeface="Arial" panose="020B0604020202020204" pitchFamily="34" charset="0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3" name="Text Box 41">
            <a:extLst>
              <a:ext uri="{FF2B5EF4-FFF2-40B4-BE49-F238E27FC236}">
                <a16:creationId xmlns:a16="http://schemas.microsoft.com/office/drawing/2014/main" id="{C5532AE1-CE65-4830-82E6-E591169A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43" y="7029771"/>
            <a:ext cx="3137316" cy="20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lIns="91439" tIns="45719" rIns="91439" bIns="0">
            <a:spAutoFit/>
          </a:bodyPr>
          <a:lstStyle>
            <a:lvl1pPr defTabSz="950913">
              <a:defRPr b="1">
                <a:solidFill>
                  <a:schemeClr val="tx1"/>
                </a:solidFill>
                <a:latin typeface="Courier New" pitchFamily="49" charset="0"/>
              </a:defRPr>
            </a:lvl1pPr>
            <a:lvl2pPr marL="742950" indent="-285750" defTabSz="950913">
              <a:defRPr b="1">
                <a:solidFill>
                  <a:schemeClr val="tx1"/>
                </a:solidFill>
                <a:latin typeface="Courier New" pitchFamily="49" charset="0"/>
              </a:defRPr>
            </a:lvl2pPr>
            <a:lvl3pPr marL="1143000" indent="-228600" defTabSz="950913">
              <a:defRPr b="1">
                <a:solidFill>
                  <a:schemeClr val="tx1"/>
                </a:solidFill>
                <a:latin typeface="Courier New" pitchFamily="49" charset="0"/>
              </a:defRPr>
            </a:lvl3pPr>
            <a:lvl4pPr marL="1600200" indent="-228600" defTabSz="950913">
              <a:defRPr b="1">
                <a:solidFill>
                  <a:schemeClr val="tx1"/>
                </a:solidFill>
                <a:latin typeface="Courier New" pitchFamily="49" charset="0"/>
              </a:defRPr>
            </a:lvl4pPr>
            <a:lvl5pPr marL="2057400" indent="-228600" defTabSz="950913">
              <a:defRPr b="1">
                <a:solidFill>
                  <a:schemeClr val="tx1"/>
                </a:solidFill>
                <a:latin typeface="Courier New" pitchFamily="49" charset="0"/>
              </a:defRPr>
            </a:lvl5pPr>
            <a:lvl6pPr marL="25146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</a:defRPr>
            </a:lvl6pPr>
            <a:lvl7pPr marL="29718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</a:defRPr>
            </a:lvl7pPr>
            <a:lvl8pPr marL="34290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</a:defRPr>
            </a:lvl8pPr>
            <a:lvl9pPr marL="3886200" indent="-228600" algn="ctr" defTabSz="950913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© 202</a:t>
            </a:r>
            <a:r>
              <a:rPr lang="en-US" altLang="ja-JP" sz="1000" b="1" dirty="0">
                <a:solidFill>
                  <a:srgbClr val="000000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6</a:t>
            </a:r>
            <a:r>
              <a:rPr lang="en-US" sz="1000" b="1" dirty="0">
                <a:solidFill>
                  <a:srgbClr val="000000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 by The MathWorks, Inc.</a:t>
            </a:r>
            <a:endParaRPr lang="en-US" sz="1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B4FE34F-98C4-4052-A42D-0F761DE03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42" y="293974"/>
            <a:ext cx="9447335" cy="67135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3B6CB0B7-A937-47A1-8DC8-A873FBD646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4800" y="120650"/>
            <a:ext cx="0" cy="0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Rectangle 40">
            <a:extLst>
              <a:ext uri="{FF2B5EF4-FFF2-40B4-BE49-F238E27FC236}">
                <a16:creationId xmlns:a16="http://schemas.microsoft.com/office/drawing/2014/main" id="{D1C015DC-D21F-4449-907A-A54203F00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358" y="7045607"/>
            <a:ext cx="3434398" cy="249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5012" tIns="47506" rIns="95012" bIns="47506" anchor="b">
            <a:spAutoFit/>
          </a:bodyPr>
          <a:lstStyle>
            <a:lvl1pPr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1pPr>
            <a:lvl2pPr marL="742950" indent="-28575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2pPr>
            <a:lvl3pPr marL="11430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3pPr>
            <a:lvl4pPr marL="16002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4pPr>
            <a:lvl5pPr marL="2057400" indent="-228600" defTabSz="990600" eaLnBrk="0" hangingPunct="0"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defRPr>
            </a:lvl9pPr>
          </a:lstStyle>
          <a:p>
            <a:pPr algn="r" rtl="0"/>
            <a:r>
              <a:rPr lang="en-US" sz="1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Composer™ for Architecture Modeling </a:t>
            </a:r>
            <a:endParaRPr lang="ja-JP" altLang="en-US" sz="1000" b="1" i="0" u="none" baseline="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65200" rtl="0" eaLnBrk="0" fontAlgn="base" hangingPunct="0">
      <a:spcBef>
        <a:spcPct val="0"/>
      </a:spcBef>
      <a:spcAft>
        <a:spcPct val="0"/>
      </a:spcAft>
      <a:defRPr sz="1200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defTabSz="9652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1143000" indent="-228600" algn="l" defTabSz="9652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600200" indent="-228600" algn="l" defTabSz="9652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2057400" indent="-228600" algn="l" defTabSz="96520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DD70F-84AC-D9FE-CE73-5EC77782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0C750-83B2-856B-3D80-A15DDF0C0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5E558-5C5F-C769-7CEB-F4D146EB9135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Arial" panose="020B0604020202020204" pitchFamily="34" charset="0"/>
                <a:sym typeface="Futura Std Medium" panose="020B0502020204020303" pitchFamily="34" charset="0"/>
              </a:rPr>
              <a:t>Importing and Executing a </a:t>
            </a:r>
            <a:r>
              <a:rPr lang="en-US" altLang="ja-JP" sz="2000" dirty="0" err="1">
                <a:solidFill>
                  <a:srgbClr val="0071AA"/>
                </a:solidFill>
                <a:ea typeface="ＭＳ Ｐゴシック" panose="020B0600070205080204" pitchFamily="50" charset="-128"/>
                <a:cs typeface="Arial" panose="020B0604020202020204" pitchFamily="34" charset="0"/>
                <a:sym typeface="Futura Std Medium" panose="020B0502020204020303" pitchFamily="34" charset="0"/>
              </a:rPr>
              <a:t>SysML</a:t>
            </a:r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Arial" panose="020B0604020202020204" pitchFamily="34" charset="0"/>
                <a:sym typeface="Futura Std Medium" panose="020B0502020204020303" pitchFamily="34" charset="0"/>
              </a:rPr>
              <a:t> Model</a:t>
            </a:r>
            <a:endParaRPr lang="en-US" altLang="ja-JP" dirty="0">
              <a:solidFill>
                <a:srgbClr val="0071AA"/>
              </a:solidFill>
              <a:ea typeface="ＭＳ Ｐゴシック" panose="020B0600070205080204" pitchFamily="50" charset="-128"/>
              <a:cs typeface="Arial" panose="020B0604020202020204" pitchFamily="34" charset="0"/>
              <a:sym typeface="Futura Std Medium" panose="020B0502020204020303" pitchFamily="34" charset="0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eaLnBrk="1"/>
            <a:r>
              <a:rPr lang="en-US" altLang="ja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1.Importing from XMI</a:t>
            </a:r>
          </a:p>
          <a:p>
            <a:pPr eaLnBrk="1"/>
            <a:r>
              <a:rPr lang="ja-JP" altLang="en-US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</a:t>
            </a:r>
            <a:r>
              <a:rPr lang="en-US" altLang="ja-JP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1.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Select "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SysML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Connector" from the "Apps" tab in MATLAB.</a:t>
            </a:r>
          </a:p>
          <a:p>
            <a:pPr eaLnBrk="1"/>
            <a:r>
              <a:rPr lang="en-US" altLang="ja-JP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2.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Specify 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  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SystemModels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/ElectricThrottleControlSysMLModel.xml 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  as the source.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3.Specify the "Output Directory".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4.Click the "Import" button.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5.Verify the imported architecture model.</a:t>
            </a: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eaLnBrk="1"/>
            <a:r>
              <a:rPr lang="en-US" altLang="ja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2. Model Execution and </a:t>
            </a:r>
            <a:r>
              <a:rPr lang="en-US" altLang="ja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TestingModel</a:t>
            </a:r>
            <a:r>
              <a:rPr lang="en-US" altLang="ja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</a:t>
            </a:r>
          </a:p>
          <a:p>
            <a:pPr eaLnBrk="1"/>
            <a:r>
              <a:rPr lang="en-US" altLang="ja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Execution: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1.Open 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SysMLArchModel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/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SysMLArchModel.prj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2.Open 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ElectricThrottleControl.slx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within the project.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3.Run the simulation and check the waveforms in the Data 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  Inspector.</a:t>
            </a:r>
          </a:p>
          <a:p>
            <a:pPr eaLnBrk="1"/>
            <a:r>
              <a:rPr lang="en-US" altLang="ja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Test Execution: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1.Open 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TestFile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/</a:t>
            </a:r>
            <a:r>
              <a:rPr lang="en-US" altLang="ja" b="0" dirty="0" err="1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TestManagerFile.mldatx</a:t>
            </a:r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within the project.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2.Run the test cases in the Test Browser and verify the test 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    results.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1021064-3A73-EF82-48D1-4CBAADB0E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66" y="337063"/>
            <a:ext cx="4431323" cy="1849737"/>
          </a:xfrm>
          <a:prstGeom prst="rect">
            <a:avLst/>
          </a:prstGeom>
          <a:solidFill>
            <a:srgbClr val="DBF0FC"/>
          </a:solidFill>
          <a:ln w="6350">
            <a:solidFill>
              <a:schemeClr val="tx1"/>
            </a:solidFill>
          </a:ln>
          <a:effectLst>
            <a:outerShdw blurRad="25400" dist="25400" dir="2700000" algn="tl">
              <a:prstClr val="black">
                <a:alpha val="20000"/>
              </a:prstClr>
            </a:outerShdw>
          </a:effectLst>
        </p:spPr>
        <p:txBody>
          <a:bodyPr wrap="square" lIns="64008" tIns="64008" rIns="64008" bIns="91440">
            <a:spAutoFit/>
          </a:bodyPr>
          <a:lstStyle>
            <a:lvl1pPr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1pPr>
            <a:lvl2pPr marL="742950" indent="-28575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2pPr>
            <a:lvl3pPr marL="11430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3pPr>
            <a:lvl4pPr marL="16002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4pPr>
            <a:lvl5pPr marL="20574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9pPr>
          </a:lstStyle>
          <a:p>
            <a:pPr>
              <a:defRPr/>
            </a:pPr>
            <a:r>
              <a:rPr lang="en-US" altLang="ja-JP" sz="1100" dirty="0">
                <a:latin typeface="Arial" panose="020B0604020202020204" pitchFamily="34" charset="0"/>
                <a:ea typeface="ＭＳ Ｐゴシック" panose="020B0600070205080204" pitchFamily="50" charset="-128"/>
              </a:rPr>
              <a:t>Try</a:t>
            </a:r>
          </a:p>
          <a:p>
            <a:pPr>
              <a:defRPr/>
            </a:pPr>
            <a:endParaRPr lang="en-US" altLang="ja-JP" sz="1100" b="0" dirty="0"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b="0" dirty="0">
                <a:latin typeface="Arial" panose="020B0604020202020204" pitchFamily="34" charset="0"/>
                <a:ea typeface="ＭＳ Ｐゴシック" panose="020B0600070205080204" pitchFamily="50" charset="-128"/>
              </a:rPr>
              <a:t>If not yet installed, please install the "</a:t>
            </a:r>
            <a:r>
              <a:rPr lang="en-US" altLang="ja-JP" sz="1100" b="0" dirty="0" err="1">
                <a:latin typeface="Arial" panose="020B0604020202020204" pitchFamily="34" charset="0"/>
                <a:ea typeface="ＭＳ Ｐゴシック" panose="020B0600070205080204" pitchFamily="50" charset="-128"/>
              </a:rPr>
              <a:t>SysML</a:t>
            </a:r>
            <a:r>
              <a:rPr lang="en-US" altLang="ja-JP" sz="1100" b="0" dirty="0">
                <a:latin typeface="Arial" panose="020B0604020202020204" pitchFamily="34" charset="0"/>
                <a:ea typeface="ＭＳ Ｐゴシック" panose="020B0600070205080204" pitchFamily="50" charset="-128"/>
              </a:rPr>
              <a:t> Connector" from the following URL: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https://jp.mathworks.com/products/sysml.html</a:t>
            </a:r>
          </a:p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SystemModels</a:t>
            </a:r>
            <a:r>
              <a:rPr lang="en-US" altLang="ja-JP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/ElectricThrottleControlSysMLModel.xml</a:t>
            </a:r>
          </a:p>
          <a:p>
            <a:pPr>
              <a:defRPr/>
            </a:pPr>
            <a:r>
              <a:rPr lang="ja-JP" altLang="en-US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　　または、</a:t>
            </a:r>
            <a:r>
              <a:rPr lang="en-US" altLang="ja-JP" sz="11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ElectricThrottleControlSysMLModel.mdzip</a:t>
            </a:r>
            <a:endParaRPr lang="ja-JP" altLang="en-US" sz="11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>
              <a:defRPr/>
            </a:pPr>
            <a:endParaRPr lang="en-US" altLang="ja-JP" sz="11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SysMLArchModel</a:t>
            </a:r>
            <a:r>
              <a:rPr lang="en-US" altLang="ja-JP" sz="11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/</a:t>
            </a:r>
            <a:r>
              <a:rPr lang="en-US" altLang="ja-JP" sz="110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50" charset="-128"/>
              </a:rPr>
              <a:t>SysMLArchModel.prj</a:t>
            </a:r>
            <a:endParaRPr lang="en-US" altLang="ja-JP" sz="11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121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CA2DD-FF92-8284-81E2-9FFEF26B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346DD-3D64-DDC6-1314-80A055975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859BA-20CA-92C4-565D-15EDF1E4A306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Futura Std Medium" panose="020B0502020204020303" pitchFamily="34" charset="0"/>
                <a:sym typeface="Futura Std Medium" panose="020B0502020204020303" pitchFamily="34" charset="0"/>
              </a:rPr>
              <a:t>Solution: Architecture and Model Creation (1)</a:t>
            </a:r>
            <a:endParaRPr lang="en-US" altLang="ja-JP" dirty="0">
              <a:solidFill>
                <a:srgbClr val="0071AA"/>
              </a:solidFill>
              <a:ea typeface="ＭＳ Ｐゴシック" panose="020B0600070205080204" pitchFamily="50" charset="-128"/>
              <a:cs typeface="Futura Std Medium" panose="020B0502020204020303" pitchFamily="34" charset="0"/>
              <a:sym typeface="Futura Std Medium" panose="020B0502020204020303" pitchFamily="34" charset="0"/>
            </a:endParaRPr>
          </a:p>
          <a:p>
            <a:endParaRPr lang="en-US" altLang="ja-JP" b="0" dirty="0"/>
          </a:p>
          <a:p>
            <a:r>
              <a:rPr lang="en-US" altLang="ja-JP" b="0" dirty="0"/>
              <a:t>1.Importing from XMI</a:t>
            </a:r>
          </a:p>
          <a:p>
            <a:r>
              <a:rPr lang="en-US" altLang="ja-JP" b="0" dirty="0"/>
              <a:t>Select </a:t>
            </a:r>
            <a:r>
              <a:rPr lang="en-US" altLang="ja-JP" b="0" dirty="0" err="1"/>
              <a:t>SysML</a:t>
            </a:r>
            <a:r>
              <a:rPr lang="en-US" altLang="ja-JP" b="0" dirty="0"/>
              <a:t> Connector from the Apps tab.</a:t>
            </a:r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endParaRPr lang="en-US" altLang="ja-JP" b="0" dirty="0"/>
          </a:p>
          <a:p>
            <a:pPr eaLnBrk="1"/>
            <a:r>
              <a:rPr lang="en-US" altLang="ja-JP" b="0" dirty="0">
                <a:solidFill>
                  <a:srgbClr val="000000"/>
                </a:solidFill>
                <a:ea typeface="ＭＳ Ｐゴシック" panose="020B0600070205080204" pitchFamily="50" charset="-128"/>
                <a:cs typeface="Arial" panose="020B0604020202020204" pitchFamily="34" charset="0"/>
              </a:rPr>
              <a:t>Import ElectricThrottleControlSysMLModel.xml.</a:t>
            </a:r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r>
              <a:rPr lang="en-US" altLang="ja" b="0" dirty="0">
                <a:solidFill>
                  <a:srgbClr val="000000"/>
                </a:solidFill>
                <a:ea typeface="ＭＳ Ｐゴシック" panose="020B0600070205080204" pitchFamily="50" charset="-128"/>
              </a:rPr>
              <a:t>Open the project file from the specified output directory and verify the imported architecture model.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B972A7D-368A-94FF-C8E5-D2505A42C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66" y="337063"/>
            <a:ext cx="4431323" cy="849463"/>
          </a:xfrm>
          <a:prstGeom prst="rect">
            <a:avLst/>
          </a:prstGeom>
          <a:solidFill>
            <a:srgbClr val="DBF0FC"/>
          </a:solidFill>
          <a:ln w="6350">
            <a:solidFill>
              <a:schemeClr val="tx1"/>
            </a:solidFill>
          </a:ln>
          <a:effectLst>
            <a:outerShdw blurRad="25400" dist="25400" dir="2700000" algn="tl">
              <a:prstClr val="black">
                <a:alpha val="20000"/>
              </a:prstClr>
            </a:outerShdw>
          </a:effectLst>
        </p:spPr>
        <p:txBody>
          <a:bodyPr wrap="square" lIns="64008" tIns="64008" rIns="64008" bIns="91440">
            <a:spAutoFit/>
          </a:bodyPr>
          <a:lstStyle>
            <a:lvl1pPr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1pPr>
            <a:lvl2pPr marL="742950" indent="-28575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2pPr>
            <a:lvl3pPr marL="11430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3pPr>
            <a:lvl4pPr marL="16002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4pPr>
            <a:lvl5pPr marL="20574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9pPr>
          </a:lstStyle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Try</a:t>
            </a:r>
          </a:p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ElectricThrottleControlSysMLModel.prj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 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ElectricThrottleControl.slx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717ADFF-4715-F279-5A7D-B2E63BDBC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7"/>
          <a:stretch>
            <a:fillRect/>
          </a:stretch>
        </p:blipFill>
        <p:spPr>
          <a:xfrm>
            <a:off x="203291" y="1553360"/>
            <a:ext cx="3156388" cy="116047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9A583E5-C28A-1148-2C9E-9B39B11EC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91" y="3162113"/>
            <a:ext cx="2851925" cy="178755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26DC22E-F5F9-B264-172A-FEB57B92B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68" y="4981990"/>
            <a:ext cx="7954264" cy="191663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03E1AF05-3768-79C1-4EA5-8C51522245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166" y="1860960"/>
            <a:ext cx="2851924" cy="210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58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8583-B6DA-7421-B82F-B41A239D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02721-6E82-9C27-998D-CEF5F4665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8B3A9-CF2D-0040-7DF0-7EB64B9DB492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Futura Std Medium" panose="020B0502020204020303" pitchFamily="34" charset="0"/>
                <a:sym typeface="Futura Std Medium" panose="020B0502020204020303" pitchFamily="34" charset="0"/>
              </a:rPr>
              <a:t>Solution: Architecture and Model Creation (2)</a:t>
            </a:r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2. Model Execution and Testing</a:t>
            </a:r>
          </a:p>
          <a:p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Model Execution:</a:t>
            </a:r>
          </a:p>
          <a:p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Open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ElectricThrottleControl.slx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lvl="0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ja-JP" alt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Run the simulation and check the waveforms in the Data Inspector.</a:t>
            </a: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 Execution:</a:t>
            </a:r>
          </a:p>
          <a:p>
            <a:pPr eaLnBrk="1"/>
            <a:r>
              <a:rPr lang="en-US" altLang="ja-JP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Run the test cases in the Test Browser.</a:t>
            </a:r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altLang="ja-JP" b="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Verify that the test requirements are met.</a:t>
            </a:r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A9F915E-D131-638B-0456-F4231C9B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66" y="337063"/>
            <a:ext cx="4431323" cy="849463"/>
          </a:xfrm>
          <a:prstGeom prst="rect">
            <a:avLst/>
          </a:prstGeom>
          <a:solidFill>
            <a:srgbClr val="DBF0FC"/>
          </a:solidFill>
          <a:ln w="6350">
            <a:solidFill>
              <a:schemeClr val="tx1"/>
            </a:solidFill>
          </a:ln>
          <a:effectLst>
            <a:outerShdw blurRad="25400" dist="25400" dir="2700000" algn="tl">
              <a:prstClr val="black">
                <a:alpha val="20000"/>
              </a:prstClr>
            </a:outerShdw>
          </a:effectLst>
        </p:spPr>
        <p:txBody>
          <a:bodyPr wrap="square" lIns="64008" tIns="64008" rIns="64008" bIns="91440">
            <a:spAutoFit/>
          </a:bodyPr>
          <a:lstStyle>
            <a:lvl1pPr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1pPr>
            <a:lvl2pPr marL="742950" indent="-28575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2pPr>
            <a:lvl3pPr marL="11430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3pPr>
            <a:lvl4pPr marL="16002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4pPr>
            <a:lvl5pPr marL="20574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9pPr>
          </a:lstStyle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Try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SysMLArchModel</a:t>
            </a: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SysMLArchModel.prj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TestFile</a:t>
            </a: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TestManagerFile.mldatx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5DD5CDA-989D-502E-BC1A-D677E9A64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71" y="1534460"/>
            <a:ext cx="3780000" cy="240315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9684C3C-E6B0-5D35-5269-F8D53FD07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71" y="4355893"/>
            <a:ext cx="3780000" cy="261079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4523172-7653-CE27-9AC0-56EB3D02E7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809"/>
          <a:stretch>
            <a:fillRect/>
          </a:stretch>
        </p:blipFill>
        <p:spPr>
          <a:xfrm>
            <a:off x="5154885" y="1910484"/>
            <a:ext cx="3780000" cy="190818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02585CC-CA4B-638A-8D1F-039EE59748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480"/>
          <a:stretch>
            <a:fillRect/>
          </a:stretch>
        </p:blipFill>
        <p:spPr>
          <a:xfrm>
            <a:off x="5154885" y="4355893"/>
            <a:ext cx="3780000" cy="198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274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777DF-6292-B383-45E0-2F3F2236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56210-FD81-0AA8-1DD2-AB8404894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F2D19-1453-9510-ACDE-187BD5B08664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Futura Std Medium" panose="020B0502020204020303" pitchFamily="34" charset="0"/>
                <a:sym typeface="Futura Std Medium" panose="020B0502020204020303" pitchFamily="34" charset="0"/>
              </a:rPr>
              <a:t>Specifying Requirements through Detailed Design</a:t>
            </a:r>
            <a:endParaRPr lang="en-US" altLang="ja-JP" dirty="0">
              <a:solidFill>
                <a:srgbClr val="0071AA"/>
              </a:solidFill>
              <a:ea typeface="ＭＳ Ｐゴシック" panose="020B0600070205080204" pitchFamily="50" charset="-128"/>
              <a:cs typeface="Futura Std Medium" panose="020B0502020204020303" pitchFamily="34" charset="0"/>
              <a:sym typeface="Futura Std Medium" panose="020B0502020204020303" pitchFamily="34" charset="0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  <a:p>
            <a:pPr eaLnBrk="1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While the requirements defined in the system design are met, the simulation confirms that a temporary drop occurs during the convergence process to the target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value.Based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on this result, response characteristics that were not defined by the high-level requirements alone are specified as detailed requirements.</a:t>
            </a:r>
          </a:p>
          <a:p>
            <a:pPr eaLnBrk="1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Verification is performed based on the added requirements, and design parameters are reviewed while checking the simulation results.</a:t>
            </a:r>
          </a:p>
          <a:p>
            <a:pPr eaLnBrk="1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Finally, re-verification is performed to ensure that both the existing and the newly added requirements are met.</a:t>
            </a:r>
          </a:p>
          <a:p>
            <a:pPr eaLnBrk="1"/>
            <a:endParaRPr lang="en-US" altLang="ja-JP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</a:t>
            </a:r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Checking Simulation Results and Requirements</a:t>
            </a:r>
          </a:p>
          <a:p>
            <a:pPr lvl="0"/>
            <a:r>
              <a:rPr lang="ja-JP" alt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</a:t>
            </a:r>
            <a:r>
              <a:rPr lang="en-US" altLang="ja-JP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Open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ElectricThrottleControl.slx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within the project.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2.Run the simulation and check the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PositionSensorVoltage</a:t>
            </a:r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waveform in the Data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Inspector.Confirm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that a non-monotonic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response occurs during the convergence process to the target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value.</a:t>
            </a: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2.Adding Detailed Requirements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1.Open the Requirements Editor and select "3 Response".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2.Add "3.1 Monotonic Response" under "3 Response".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3.Set the following requirement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details:"After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the response starts,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the drop in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PositionSensorVoltage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from its previous maximum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value must be 0.10V or less.“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4.Save the added requirements.</a:t>
            </a: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3. Testing Based on Added Requirements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1.Open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TestFile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TestManagerFile.mldatx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within the project.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2.Select "Monotonic Response Test" from the Test Browser.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3.Link the test with the "3.1 Monotonic Response" requirement.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4.Run the test case and confirm that the test fails against the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added requirement.</a:t>
            </a: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4. Reviewing the Design via Simulation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1.Open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ElectricThrottleControl.slx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2.Change the PID controller parameters and run the simulation.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3.Compare the waveforms in the Data Inspector and select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parameters that suppress the temporary drop while maintaining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the existing response performance.</a:t>
            </a:r>
          </a:p>
          <a:p>
            <a:pPr lvl="0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lvl="0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5. Re-testing Based on Requirements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1.Open 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TestFile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en-US" b="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TestManagerFile.mldatx</a:t>
            </a: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2.Run the test case again.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3.Confirm that the tests for both "3 Response" and "3.1 Monotonic 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Response" pass.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4.Review the simulation results and requirements to confirm that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the insights gained from the detailed design have been reflected in</a:t>
            </a:r>
          </a:p>
          <a:p>
            <a:pPr lvl="0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the requirements and the design.</a:t>
            </a: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C1068B0-73B9-6339-C8BD-847F7ABBC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66" y="337063"/>
            <a:ext cx="4431323" cy="680186"/>
          </a:xfrm>
          <a:prstGeom prst="rect">
            <a:avLst/>
          </a:prstGeom>
          <a:solidFill>
            <a:srgbClr val="DBF0FC"/>
          </a:solidFill>
          <a:ln w="6350">
            <a:solidFill>
              <a:schemeClr val="tx1"/>
            </a:solidFill>
          </a:ln>
          <a:effectLst>
            <a:outerShdw blurRad="25400" dist="25400" dir="2700000" algn="tl">
              <a:prstClr val="black">
                <a:alpha val="20000"/>
              </a:prstClr>
            </a:outerShdw>
          </a:effectLst>
        </p:spPr>
        <p:txBody>
          <a:bodyPr wrap="square" lIns="64008" tIns="64008" rIns="64008" bIns="91440">
            <a:spAutoFit/>
          </a:bodyPr>
          <a:lstStyle>
            <a:lvl1pPr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1pPr>
            <a:lvl2pPr marL="742950" indent="-28575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2pPr>
            <a:lvl3pPr marL="11430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3pPr>
            <a:lvl4pPr marL="16002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4pPr>
            <a:lvl5pPr marL="20574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9pPr>
          </a:lstStyle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Try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endParaRPr lang="en-US" altLang="ja-JP" sz="1100" b="0" dirty="0"/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SimDrivenReqRefinement</a:t>
            </a: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/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SysMLArchModel.prj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579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49B0-051A-7E4E-4591-8F9BBC8BA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3BE10-629F-0C6F-FA69-EFA8FD48C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8014B-B6C4-1D79-596A-EFD28E55807A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Futura Std Medium" panose="020B0502020204020303" pitchFamily="34" charset="0"/>
                <a:sym typeface="Futura Std Medium" panose="020B0502020204020303" pitchFamily="34" charset="0"/>
              </a:rPr>
              <a:t>Solution: Specifying Requirements through Detailed Design (1)</a:t>
            </a:r>
            <a:endParaRPr lang="ja-JP" altLang="en-US" sz="2000" dirty="0">
              <a:solidFill>
                <a:srgbClr val="0071AA"/>
              </a:solidFill>
              <a:ea typeface="ＭＳ Ｐゴシック" panose="020B0600070205080204" pitchFamily="50" charset="-128"/>
              <a:cs typeface="Futura Std Medium" panose="020B0502020204020303" pitchFamily="34" charset="0"/>
              <a:sym typeface="Futura Std Medium" panose="020B0502020204020303" pitchFamily="34" charset="0"/>
            </a:endParaRPr>
          </a:p>
          <a:p>
            <a:pPr eaLnBrk="1"/>
            <a:endParaRPr lang="en-US" altLang="ja-JP" dirty="0">
              <a:solidFill>
                <a:srgbClr val="0071AA"/>
              </a:solidFill>
              <a:ea typeface="ＭＳ Ｐゴシック" panose="020B0600070205080204" pitchFamily="50" charset="-128"/>
              <a:cs typeface="Futura Std Medium" panose="020B0502020204020303" pitchFamily="34" charset="0"/>
              <a:sym typeface="Futura Std Medium" panose="020B0502020204020303" pitchFamily="34" charset="0"/>
            </a:endParaRPr>
          </a:p>
          <a:p>
            <a:pPr eaLnBrk="1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1.Checking Simulation Results and Requirements</a:t>
            </a:r>
          </a:p>
          <a:p>
            <a:pPr eaLnBrk="1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Confirm that a temporary drop occurs during the convergence process to the target value.</a:t>
            </a: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dirty="0"/>
              <a:t>2. Adding Detailed Requirements </a:t>
            </a:r>
          </a:p>
          <a:p>
            <a:pPr eaLnBrk="1"/>
            <a:r>
              <a:rPr lang="en-US" b="0" dirty="0"/>
              <a:t>Set the following requirement details:</a:t>
            </a:r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3. Testing Based on Added Requirements</a:t>
            </a:r>
            <a:b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</a:t>
            </a:r>
            <a:r>
              <a:rPr lang="en-US" altLang="ja-JP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Link the requirements and execute the test.</a:t>
            </a: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-JP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altLang="ja-JP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Confirm that the test fails against the added requirement.</a:t>
            </a: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72134E38-5B2B-148B-E8A1-A4576BE2F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166" y="337063"/>
            <a:ext cx="4431323" cy="680186"/>
          </a:xfrm>
          <a:prstGeom prst="rect">
            <a:avLst/>
          </a:prstGeom>
          <a:solidFill>
            <a:srgbClr val="DBF0FC"/>
          </a:solidFill>
          <a:ln w="6350">
            <a:solidFill>
              <a:schemeClr val="tx1"/>
            </a:solidFill>
          </a:ln>
          <a:effectLst>
            <a:outerShdw blurRad="25400" dist="25400" dir="2700000" algn="tl">
              <a:prstClr val="black">
                <a:alpha val="20000"/>
              </a:prstClr>
            </a:outerShdw>
          </a:effectLst>
        </p:spPr>
        <p:txBody>
          <a:bodyPr wrap="square" lIns="64008" tIns="64008" rIns="64008" bIns="91440">
            <a:spAutoFit/>
          </a:bodyPr>
          <a:lstStyle>
            <a:lvl1pPr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1pPr>
            <a:lvl2pPr marL="742950" indent="-28575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2pPr>
            <a:lvl3pPr marL="11430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3pPr>
            <a:lvl4pPr marL="16002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4pPr>
            <a:lvl5pPr marL="2057400" indent="-228600" defTabSz="915988" eaLnBrk="0" hangingPunct="0"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urier New" pitchFamily="49" charset="0"/>
                <a:cs typeface="Arial" pitchFamily="34" charset="0"/>
              </a:defRPr>
            </a:lvl9pPr>
          </a:lstStyle>
          <a:p>
            <a:pPr marL="0" marR="0" lvl="0" indent="0" algn="l" defTabSz="9159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Exercise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>
              <a:defRPr/>
            </a:pPr>
            <a:endParaRPr lang="en-US" altLang="ja-JP" sz="1100" b="0" dirty="0"/>
          </a:p>
          <a:p>
            <a:pPr>
              <a:defRPr/>
            </a:pPr>
            <a:r>
              <a:rPr lang="en-US" altLang="ja-JP" sz="110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&gt;&gt;</a:t>
            </a:r>
            <a:r>
              <a:rPr lang="en-US" altLang="ja-JP" sz="1100" dirty="0" err="1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SimDrivenReqRefinement_ans</a:t>
            </a:r>
            <a:endParaRPr lang="en-US" altLang="ja-JP" sz="110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3439992-9D35-0B45-FD20-D1122A6EA1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547"/>
          <a:stretch>
            <a:fillRect/>
          </a:stretch>
        </p:blipFill>
        <p:spPr>
          <a:xfrm>
            <a:off x="367463" y="4448410"/>
            <a:ext cx="3780000" cy="1920413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0AB983E6-B6ED-28DF-1C1A-2B7149C75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3" y="1689612"/>
            <a:ext cx="3780000" cy="226721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2055738F-FFF7-AECA-9474-B5384275EB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2202"/>
          <a:stretch>
            <a:fillRect/>
          </a:stretch>
        </p:blipFill>
        <p:spPr>
          <a:xfrm>
            <a:off x="5077653" y="1689612"/>
            <a:ext cx="3780000" cy="2337719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E9BF558C-188B-2031-52A7-D85201FB0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653" y="4448410"/>
            <a:ext cx="3780000" cy="22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90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DD0F-7DE9-CE6B-0994-50B753C9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7C24D-12CE-02AA-2F88-AD32498E9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552825" y="7210425"/>
            <a:ext cx="0" cy="0"/>
          </a:xfrm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7AF36-BF18-4909-CE71-AB368A24FF3A}"/>
              </a:ext>
            </a:extLst>
          </p:cNvPr>
          <p:cNvSpPr txBox="1">
            <a:spLocks/>
          </p:cNvSpPr>
          <p:nvPr/>
        </p:nvSpPr>
        <p:spPr>
          <a:xfrm>
            <a:off x="89242" y="282528"/>
            <a:ext cx="9447335" cy="6684163"/>
          </a:xfrm>
          <a:prstGeom prst="rect">
            <a:avLst/>
          </a:prstGeom>
        </p:spPr>
        <p:txBody>
          <a:bodyPr vert="horz" wrap="square" lIns="91440" tIns="45720" rIns="91440" bIns="45720" numCol="2" spcCol="457200" rtlCol="0"/>
          <a:lstStyle>
            <a:lvl1pPr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65200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/>
            <a:r>
              <a:rPr lang="en-US" altLang="ja-JP" sz="2000" dirty="0">
                <a:solidFill>
                  <a:srgbClr val="0071AA"/>
                </a:solidFill>
                <a:ea typeface="ＭＳ Ｐゴシック" panose="020B0600070205080204" pitchFamily="50" charset="-128"/>
                <a:cs typeface="Futura Std Medium" panose="020B0502020204020303" pitchFamily="34" charset="0"/>
                <a:sym typeface="Futura Std Medium" panose="020B0502020204020303" pitchFamily="34" charset="0"/>
              </a:rPr>
              <a:t>Solution: Specifying Requirements through Detailed Design (2)</a:t>
            </a:r>
            <a:endParaRPr lang="en-US" altLang="ja-JP" dirty="0">
              <a:solidFill>
                <a:srgbClr val="0071AA"/>
              </a:solidFill>
              <a:ea typeface="ＭＳ Ｐゴシック" panose="020B0600070205080204" pitchFamily="50" charset="-128"/>
              <a:cs typeface="Futura Std Medium" panose="020B0502020204020303" pitchFamily="34" charset="0"/>
              <a:sym typeface="Futura Std Medium" panose="020B0502020204020303" pitchFamily="34" charset="0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b="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4. Reviewing the Design via Simulation</a:t>
            </a:r>
          </a:p>
          <a:p>
            <a:pPr eaLnBrk="1"/>
            <a:r>
              <a:rPr 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Change the parameters of the PID controller.</a:t>
            </a: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b="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b="0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endParaRPr lang="en-US" altLang="ja" dirty="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eaLnBrk="1"/>
            <a:r>
              <a:rPr lang="en-US" altLang="ja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5. Re-testing Based on Requirements</a:t>
            </a:r>
          </a:p>
          <a:p>
            <a:pPr eaLnBrk="1"/>
            <a:r>
              <a:rPr lang="en-US" altLang="ja" b="0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Confirm that the test passes against the added requirement.</a:t>
            </a:r>
            <a:endParaRPr lang="en-US" altLang="ja" b="0" dirty="0">
              <a:solidFill>
                <a:srgbClr val="000000"/>
              </a:solidFill>
              <a:ea typeface="ＭＳ Ｐゴシック" panose="020B0600070205080204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D8A8D10-C55E-247B-9A59-3149F7585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827" y="1577126"/>
            <a:ext cx="3780000" cy="226721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CF95FB7-AAB2-8332-F34E-61A13F81C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67" y="1577126"/>
            <a:ext cx="3780000" cy="14132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399B4F9-2195-53A7-33FD-575AF31FF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73" y="3192004"/>
            <a:ext cx="3150306" cy="35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5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08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31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81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56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Futura Std Book" panose="020B0802020204020204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EAD3-8C35-B73E-575D-B20459A2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049F03-54A0-387A-5A57-CC601FDCA51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1325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29484-83F2-2320-FE2B-48FEC20E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D7C327-FB8C-6272-7F04-08842E3697D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8910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3F2A-A9D1-57C2-E026-155959BE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C0C83E-18AD-F652-BAA0-CC6A7F064F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7494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AA5D-FC2A-0EAC-2C0F-183BE503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03F6EC-3396-4117-736C-C133315E63E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73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6BAA9-418F-B015-8636-1A1E6F2C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A4EFCF-A75A-DBE2-4DCB-8F6DD9B616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8696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F9FB-C5AA-495B-5F5F-8EDC3AD8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BCC9EB-90C2-E63B-4475-078B20AD9F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558800"/>
            <a:ext cx="8077200" cy="1143000"/>
          </a:xfrm>
          <a:prstGeom prst="rect">
            <a:avLst/>
          </a:prstGeom>
        </p:spPr>
        <p:txBody>
          <a:bodyPr/>
          <a:lstStyle/>
          <a:p>
            <a:endParaRPr lang="ja" dirty="0">
              <a:latin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7697165"/>
      </p:ext>
    </p:extLst>
  </p:cSld>
  <p:clrMapOvr>
    <a:masterClrMapping/>
  </p:clrMapOvr>
</p:sld>
</file>

<file path=ppt/theme/theme1.xml><?xml version="1.0" encoding="utf-8"?>
<a:theme xmlns:a="http://schemas.openxmlformats.org/drawingml/2006/main" name="1_April2010">
  <a:themeElements>
    <a:clrScheme name="TMW_PPT">
      <a:dk1>
        <a:sysClr val="windowText" lastClr="000000"/>
      </a:dk1>
      <a:lt1>
        <a:sysClr val="window" lastClr="FFFFFF"/>
      </a:lt1>
      <a:dk2>
        <a:srgbClr val="125687"/>
      </a:dk2>
      <a:lt2>
        <a:srgbClr val="EEECE1"/>
      </a:lt2>
      <a:accent1>
        <a:srgbClr val="95B3D7"/>
      </a:accent1>
      <a:accent2>
        <a:srgbClr val="781414"/>
      </a:accent2>
      <a:accent3>
        <a:srgbClr val="697819"/>
      </a:accent3>
      <a:accent4>
        <a:srgbClr val="D27809"/>
      </a:accent4>
      <a:accent5>
        <a:srgbClr val="BFBFBF"/>
      </a:accent5>
      <a:accent6>
        <a:srgbClr val="E5DD9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2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rainingContent">
      <a:majorFont>
        <a:latin typeface="Futura Std Book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Garamond"/>
        <a:font script="Hebr" typeface="Garamon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Garamond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F017634A1EEA42AAFB515889551CAD" ma:contentTypeVersion="13" ma:contentTypeDescription="Create a new document." ma:contentTypeScope="" ma:versionID="37a001dc75eab367a79ee6fa1af6e113">
  <xsd:schema xmlns:xsd="http://www.w3.org/2001/XMLSchema" xmlns:xs="http://www.w3.org/2001/XMLSchema" xmlns:p="http://schemas.microsoft.com/office/2006/metadata/properties" xmlns:ns3="19c216ad-d7d8-4107-b559-317756898ea5" xmlns:ns4="ec34e3af-4045-4abc-bf8e-41be571c849e" targetNamespace="http://schemas.microsoft.com/office/2006/metadata/properties" ma:root="true" ma:fieldsID="4c6693462a6bb7257fe151accc1907f3" ns3:_="" ns4:_="">
    <xsd:import namespace="19c216ad-d7d8-4107-b559-317756898ea5"/>
    <xsd:import namespace="ec34e3af-4045-4abc-bf8e-41be571c849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216ad-d7d8-4107-b559-317756898e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4e3af-4045-4abc-bf8e-41be571c849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006029-3EE3-4523-8110-D6EE9CC6217F}">
  <ds:schemaRefs>
    <ds:schemaRef ds:uri="19c216ad-d7d8-4107-b559-317756898ea5"/>
    <ds:schemaRef ds:uri="ec34e3af-4045-4abc-bf8e-41be571c84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79D5A15-7E49-4D48-9120-193C8442B8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C2C668-877A-4679-AE7C-FB0D89647B3F}">
  <ds:schemaRefs>
    <ds:schemaRef ds:uri="http://www.w3.org/XML/1998/namespace"/>
    <ds:schemaRef ds:uri="http://purl.org/dc/elements/1.1/"/>
    <ds:schemaRef ds:uri="19c216ad-d7d8-4107-b559-317756898ea5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ec34e3af-4045-4abc-bf8e-41be571c849e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99dd3a11-4348-4468-9bdd-e5072b1dc1e6}" enabled="0" method="" siteId="{99dd3a11-4348-4468-9bdd-e5072b1dc1e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April2010</Template>
  <TotalTime>4169</TotalTime>
  <Words>862</Words>
  <Application>Microsoft Office PowerPoint</Application>
  <PresentationFormat>画面に合わせる (4:3)</PresentationFormat>
  <Paragraphs>292</Paragraphs>
  <Slides>6</Slides>
  <Notes>6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3" baseType="lpstr">
      <vt:lpstr>Arial</vt:lpstr>
      <vt:lpstr>Wingdings</vt:lpstr>
      <vt:lpstr>ＭＳ Ｐゴシック</vt:lpstr>
      <vt:lpstr>Courier New</vt:lpstr>
      <vt:lpstr>Futura Std Book</vt:lpstr>
      <vt:lpstr>1_April2010</vt:lpstr>
      <vt:lpstr>Equation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</dc:title>
  <dc:creator>Jonathan Young</dc:creator>
  <cp:lastModifiedBy>Hiro Nakano</cp:lastModifiedBy>
  <cp:revision>1</cp:revision>
  <cp:lastPrinted>2020-12-15T12:27:57Z</cp:lastPrinted>
  <dcterms:created xsi:type="dcterms:W3CDTF">2020-09-11T16:57:33Z</dcterms:created>
  <dcterms:modified xsi:type="dcterms:W3CDTF">2026-08-18T01:00:31Z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0x0101009FF017634A1EEA42AAFB515889551CAD</vt:lpwstr>
  </property>
</Properties>
</file>